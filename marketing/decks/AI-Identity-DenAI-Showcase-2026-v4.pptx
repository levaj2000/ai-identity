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0:00–0:20 — Open on the record card, not on the company. 'Every request an agent makes in a city should look like this: attributed, authorized, and provable.' Say the company name once, then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0:20–1:00 — Land the scenario first, then the three questions. These are governance questions before they are security questions: a resident asking 'who decided this?' deserves an answer that does not depend on trusting a vendor's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1:00–1:45 — Walk left to right once, one clause per stage. The load-bearing sentence is the band at the bottom: this is not a rip-and-replace of anything the city has already procured.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1:45–3:00 — Your longest beat; this is the slide people repeat afterward. Read the four rows out loud, then stop on 04: the request fails closed, and the refusal is itself a signed, chained record. Most systems log what happened; this one proves what was refused.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3:00–3:30 — Name the three workflows quickly; do not read the cards. Spend the time on the bottom band — it pre-empts the security review, the data-residency question, and 'what happens if you go out of business.'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3:30–4:15 — This is the slide that separates you from seven other 'AI for cities' pitches. Say the OCSF line plainly and once — it is checkable, so do not oversell it. The navy band is the answer to 'won't our existing vendor just add this?'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4:15–4:40 — ACTION REQUIRED: replace the amber card before you submit or present. A named Colorado workflow is the single highest-value edit in this deck. Also decide in advance how you answer 'are you raising?' — the deck deliberately does not claim either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4:40–5:00 — Close on the panel, not the bio. Two sentences, then stop talking. Consider naming the bank or platform in the bio line if you are permitted to — an unattributed $50B reads as padding to investors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93268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E9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DENAI SUMMIT 2026   ·   STARTUP SHOWCASE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IDENTITY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39696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Accountable AI agents for public institutions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004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identity, policy enforcement, and evidence that can be verified independently.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4315968"/>
            <a:ext cx="6035040" cy="0"/>
          </a:xfrm>
          <a:prstGeom prst="line">
            <a:avLst/>
          </a:prstGeom>
          <a:noFill/>
          <a:ln w="12700">
            <a:solidFill>
              <a:srgbClr val="2C3B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535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Boulder, Colorado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pre-seed  ·  working software today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193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9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ai-identity.co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52360" y="1572768"/>
            <a:ext cx="4050792" cy="3950208"/>
          </a:xfrm>
          <a:prstGeom prst="roundRect">
            <a:avLst>
              <a:gd name="adj" fmla="val 1389"/>
            </a:avLst>
          </a:prstGeom>
          <a:solidFill>
            <a:srgbClr val="1B2740"/>
          </a:solidFill>
          <a:ln w="12700">
            <a:solidFill>
              <a:srgbClr val="2C3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18120" y="1901952"/>
            <a:ext cx="3319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E9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REQUEST, AS RECORDED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468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246888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permitting-bot-04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29077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granted-by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9077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j.ruiz@city.example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33467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334670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  $2,400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37856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378561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4224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422452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$2,600 of $5,000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4663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46634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sha256:9f2c41a8…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18120" y="4992624"/>
            <a:ext cx="3319272" cy="0"/>
          </a:xfrm>
          <a:prstGeom prst="line">
            <a:avLst/>
          </a:prstGeom>
          <a:noFill/>
          <a:ln w="12700">
            <a:solidFill>
              <a:srgbClr val="2C3B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18120" y="513892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offline  ·  no vendor call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58368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city agent spends $40,000 at 2 a.m.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3502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used the shared service credential, like every other agent in the tenant. Monday morning, three questions have no answer.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212848"/>
            <a:ext cx="3529584" cy="2487168"/>
          </a:xfrm>
          <a:prstGeom prst="roundRect">
            <a:avLst>
              <a:gd name="adj" fmla="val 1838"/>
            </a:avLst>
          </a:prstGeom>
          <a:solidFill>
            <a:srgbClr val="1B2740"/>
          </a:solidFill>
          <a:ln w="12700">
            <a:solidFill>
              <a:srgbClr val="2C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2578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7E9AD6"/>
          </a:solidFill>
          <a:ln w="12700">
            <a:solidFill>
              <a:srgbClr val="7E9A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45336" y="26426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E9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31821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agent acted?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67588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4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 credentials collapse many agents into one identity. The log names the service, not the actor.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99432" y="2212848"/>
            <a:ext cx="3529584" cy="2487168"/>
          </a:xfrm>
          <a:prstGeom prst="roundRect">
            <a:avLst>
              <a:gd name="adj" fmla="val 1838"/>
            </a:avLst>
          </a:prstGeom>
          <a:solidFill>
            <a:srgbClr val="1B2740"/>
          </a:solidFill>
          <a:ln w="12700">
            <a:solidFill>
              <a:srgbClr val="2C3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46904" y="2578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7E9AD6"/>
          </a:solidFill>
          <a:ln w="12700">
            <a:solidFill>
              <a:srgbClr val="7E9A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46904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58968" y="26426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E9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946904" y="31821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it authorized?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946904" y="367588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4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IAM does not express an agent's tool access, spending ceiling, or approval boundary.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13064" y="2212848"/>
            <a:ext cx="3529584" cy="2487168"/>
          </a:xfrm>
          <a:prstGeom prst="roundRect">
            <a:avLst>
              <a:gd name="adj" fmla="val 1838"/>
            </a:avLst>
          </a:prstGeom>
          <a:solidFill>
            <a:srgbClr val="1B2740"/>
          </a:solidFill>
          <a:ln w="12700">
            <a:solidFill>
              <a:srgbClr val="2C3B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0536" y="2578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7E9AD6"/>
          </a:solidFill>
          <a:ln w="12700">
            <a:solidFill>
              <a:srgbClr val="7E9A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0536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26426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E9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860536" y="31821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the record hold?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860536" y="367588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4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application logs cannot prove that an event stayed complete and unaltered after the fact.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047488"/>
            <a:ext cx="108200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unanswered questions become one public-trust problem.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327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0591495" y="6327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before the action, evidence after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Identity control path — four stages on every request an agent makes.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00784"/>
            <a:ext cx="2587752" cy="2798064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596896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072384"/>
            <a:ext cx="2002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cryptographic credential attributes every request to one agent, and to the human behind it.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87121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E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66160" y="1700784"/>
            <a:ext cx="2587752" cy="2798064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58768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5876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58768" y="2596896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858768" y="3072384"/>
            <a:ext cx="2002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fail-closed gateway evaluates permissions, spending limits, and approvals before the call leaves.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87121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E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46520" y="1700784"/>
            <a:ext cx="2587752" cy="2798064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39128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3912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39128" y="2596896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739128" y="3072384"/>
            <a:ext cx="2002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mappings connect each runtime decision to the review obligations auditors already ask about.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87121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E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0" y="1700784"/>
            <a:ext cx="2587752" cy="2798064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19488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1948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19488" y="2596896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Forensics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9619488" y="3072384"/>
            <a:ext cx="2002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chained records support replay and independent verification months later.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4809744"/>
            <a:ext cx="10820095" cy="969264"/>
          </a:xfrm>
          <a:prstGeom prst="roundRect">
            <a:avLst>
              <a:gd name="adj" fmla="val 4717"/>
            </a:avLst>
          </a:prstGeom>
          <a:solidFill>
            <a:srgbClr val="E9EEF8"/>
          </a:solidFill>
          <a:ln w="12700">
            <a:solidFill>
              <a:srgbClr val="D5DE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69848" y="5029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gets replaced.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886200" y="5047488"/>
            <a:ext cx="7253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keeps its existing AI applications, vendors, and services. AI Identity governs the requests between them.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327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591495" y="6327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procurement agent, under a delegated limit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reference demonstration — product interface, demonstration environment.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00784"/>
            <a:ext cx="3977640" cy="3163824"/>
          </a:xfrm>
          <a:prstGeom prst="roundRect">
            <a:avLst>
              <a:gd name="adj" fmla="val 14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1975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DELEGATED AUTHORITY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286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$5,000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3291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to one agent, for one vendor category, under the city's $10,000 informal-quote threshold.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69848" y="4224528"/>
            <a:ext cx="3200400" cy="0"/>
          </a:xfrm>
          <a:prstGeom prst="line">
            <a:avLst/>
          </a:prstGeom>
          <a:noFill/>
          <a:ln w="12700">
            <a:solidFill>
              <a:srgbClr val="3A44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9848" y="43525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a human. Enforced before the call.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737360"/>
            <a:ext cx="6476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B6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REQUESTS, FOUR SIGNED DECISIONS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2103120"/>
            <a:ext cx="647669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303520" y="210312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10312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$2,400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40880" y="2240280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E6F4EC"/>
          </a:solidFill>
          <a:ln w="12700">
            <a:solidFill>
              <a:srgbClr val="BFE3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224028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103120"/>
            <a:ext cx="2773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$2,600 remaining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2816352"/>
            <a:ext cx="647669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303520" y="281635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281635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$1,350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040880" y="2953512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E6F4EC"/>
          </a:solidFill>
          <a:ln w="12700">
            <a:solidFill>
              <a:srgbClr val="BFE3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295351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2816352"/>
            <a:ext cx="2773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$1,250 remaining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3529584"/>
            <a:ext cx="647669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303520" y="352958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352958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$1,100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040880" y="3666744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E6F4EC"/>
          </a:solidFill>
          <a:ln w="12700">
            <a:solidFill>
              <a:srgbClr val="BFE3C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40880" y="3666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458200" y="3529584"/>
            <a:ext cx="2773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 remaining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0" y="4242816"/>
            <a:ext cx="6476695" cy="603504"/>
          </a:xfrm>
          <a:prstGeom prst="roundRect">
            <a:avLst>
              <a:gd name="adj" fmla="val 7576"/>
            </a:avLst>
          </a:prstGeom>
          <a:solidFill>
            <a:srgbClr val="FAE9EA"/>
          </a:solidFill>
          <a:ln w="12700">
            <a:solidFill>
              <a:srgbClr val="EFCBC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303520" y="424281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806440" y="4242816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$900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040880" y="4379976"/>
            <a:ext cx="1207008" cy="329184"/>
          </a:xfrm>
          <a:prstGeom prst="roundRect">
            <a:avLst>
              <a:gd name="adj" fmla="val 16667"/>
            </a:avLst>
          </a:prstGeom>
          <a:solidFill>
            <a:srgbClr val="F5D6D8"/>
          </a:solidFill>
          <a:ln w="12700">
            <a:solidFill>
              <a:srgbClr val="E7B4B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0" y="437997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23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458200" y="4242816"/>
            <a:ext cx="2773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delegated limit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5010912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carries the agent identity, the policy result, the remaining authority, and a signed OCSF record.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" y="5029200"/>
            <a:ext cx="3977640" cy="749808"/>
          </a:xfrm>
          <a:prstGeom prst="roundRect">
            <a:avLst>
              <a:gd name="adj" fmla="val 6098"/>
            </a:avLst>
          </a:prstGeom>
          <a:solidFill>
            <a:srgbClr val="FAE9EA"/>
          </a:solidFill>
          <a:ln w="12700">
            <a:solidFill>
              <a:srgbClr val="EFCBC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8408" y="502920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denial is evidence too.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27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10591495" y="6327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control layer, three city workflows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by design — the first wedge is the public institution, not the AI startup.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00784"/>
            <a:ext cx="3529584" cy="2395728"/>
          </a:xfrm>
          <a:prstGeom prst="roundRect">
            <a:avLst>
              <a:gd name="adj" fmla="val 190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6696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669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257860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 controls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3035808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spending ceilings and approval boundaries before a procurement agent can act, not in the reconciliation afterward.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99432" y="1700784"/>
            <a:ext cx="3529584" cy="2395728"/>
          </a:xfrm>
          <a:prstGeom prst="roundRect">
            <a:avLst>
              <a:gd name="adj" fmla="val 190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0328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0328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10328" y="257860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Resident-data access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3035808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every sensitive lookup to a specific agent and to the human authority that delegated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13064" y="1700784"/>
            <a:ext cx="3529584" cy="2395728"/>
          </a:xfrm>
          <a:prstGeom prst="roundRect">
            <a:avLst>
              <a:gd name="adj" fmla="val 190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23960" y="2011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239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257860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review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3035808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investigators a portable record they can verify without relying on the live vendor service.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407408"/>
            <a:ext cx="10820095" cy="1371600"/>
          </a:xfrm>
          <a:prstGeom prst="roundRect">
            <a:avLst>
              <a:gd name="adj" fmla="val 3333"/>
            </a:avLst>
          </a:prstGeom>
          <a:solidFill>
            <a:srgbClr val="E9EEF8"/>
          </a:solidFill>
          <a:ln w="12700">
            <a:solidFill>
              <a:srgbClr val="D5DE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9848" y="46268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deploys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69848" y="49743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first three questions procurement asks.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462686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city's environment.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4956048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 managed service — evidence stays inside the city's boundary.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510528" y="462686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offline.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10528" y="4956048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MIT-licensed verifier checks records without calling AI Identity.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089136" y="4626864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retention.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089136" y="4956048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sees the request envelope, not the resident record behind it.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327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591495" y="6327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 already exists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 and a vendor-neutral evidence model — not a roadmap slide.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00784"/>
            <a:ext cx="484632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69848" y="1975104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OCSF 1.9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798064"/>
            <a:ext cx="4078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founder authored the contribution that added the attestation object and the record_integrity profile to the Open Cybersecurity Schema Framework.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69848" y="3931920"/>
            <a:ext cx="4078224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" y="4078224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the log schema your SIEM already speaks.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16168" y="1737360"/>
            <a:ext cx="55897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B6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SHIPPING TODAY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16168" y="2139696"/>
            <a:ext cx="5589727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2313432"/>
            <a:ext cx="201168" cy="201168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74536" y="2139696"/>
            <a:ext cx="46753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the merged OCSF shape — no proprietary log format.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16168" y="2798064"/>
            <a:ext cx="5589727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2971800"/>
            <a:ext cx="201168" cy="201168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74536" y="2798064"/>
            <a:ext cx="46753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checkpoints anchor Merkle-batched audit records.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16168" y="3456432"/>
            <a:ext cx="5589727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630168"/>
            <a:ext cx="201168" cy="201168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74536" y="3456432"/>
            <a:ext cx="46753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MIT-licensed verifier checks the evidence offline.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16168" y="4114800"/>
            <a:ext cx="5589727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4288536"/>
            <a:ext cx="201168" cy="201168"/>
          </a:xfrm>
          <a:prstGeom prst="ellipse">
            <a:avLst/>
          </a:prstGeom>
          <a:solidFill>
            <a:srgbClr val="1F8A5B"/>
          </a:solidFill>
          <a:ln w="12700">
            <a:solidFill>
              <a:srgbClr val="1F8A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74536" y="4114800"/>
            <a:ext cx="46753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checkpoint feed supports independent review.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937760"/>
            <a:ext cx="10820095" cy="841248"/>
          </a:xfrm>
          <a:prstGeom prst="roundRect">
            <a:avLst>
              <a:gd name="adj" fmla="val 543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9848" y="4937760"/>
            <a:ext cx="1005199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Vendor-neutral by construction: verifying a city's evidence does not require trusting AI Identity — or AI Identity still existing.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327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591495" y="6327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Colorado for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bounded workflow, one technical owner, one verifiable result.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00784"/>
            <a:ext cx="5577840" cy="3127248"/>
          </a:xfrm>
          <a:prstGeom prst="roundRect">
            <a:avLst>
              <a:gd name="adj" fmla="val 146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524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69848" y="1975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E9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 REQUEST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304288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city workflow, end to end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88950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agent workflow with a real spending or data boundary.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3529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52958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technical owner on the city side. No procurement cycle to start.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" y="4169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416966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identity, enforced policy, and evidence a third party can verify.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47688" y="1700784"/>
            <a:ext cx="4855464" cy="3127248"/>
          </a:xfrm>
          <a:prstGeom prst="roundRect">
            <a:avLst>
              <a:gd name="adj" fmla="val 1462"/>
            </a:avLst>
          </a:prstGeom>
          <a:solidFill>
            <a:srgbClr val="FFF4E0"/>
          </a:solidFill>
          <a:ln w="19050">
            <a:solidFill>
              <a:srgbClr val="E3B4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31736" y="1975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COLORADO ANCHOR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031736" y="23042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REPLACE THIS CARD ]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031736" y="2779776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Colorado agency, department, or district you have already spoken with, the person who owns the workflow, and the workflow itself.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conversation exists yet, name the specific Denver workflow you have scoped and say what you need to start it. Judges select for local traction — a named workflow beats a generic one.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084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Boulder, Colorado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394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here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5084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Bootstrapped pre-seed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5394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outside capital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5084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software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5394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327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0591495" y="6327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57276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Jeff Leva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26771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20" kern="0" dirty="0">
                <a:solidFill>
                  <a:srgbClr val="7E9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 &amp; CEO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852928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4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years operating production systems where reliability and accountability matter, including cloud banking infrastructure supporting more than $50 billion in client assets.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4224528"/>
            <a:ext cx="6035040" cy="0"/>
          </a:xfrm>
          <a:prstGeom prst="line">
            <a:avLst/>
          </a:prstGeom>
          <a:noFill/>
          <a:ln w="12700">
            <a:solidFill>
              <a:srgbClr val="2C3B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44439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jeff@ai-identity.co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463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www.ai-identity.co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52360" y="1536192"/>
            <a:ext cx="4050792" cy="3968496"/>
          </a:xfrm>
          <a:prstGeom prst="roundRect">
            <a:avLst>
              <a:gd name="adj" fmla="val 1382"/>
            </a:avLst>
          </a:prstGeom>
          <a:solidFill>
            <a:srgbClr val="1B2740"/>
          </a:solidFill>
          <a:ln w="12700">
            <a:solidFill>
              <a:srgbClr val="2C3B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18120" y="1901952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E9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REMEMBER ONE THING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359152"/>
            <a:ext cx="3319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 are about to delegate real authority to software agents.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3511296"/>
            <a:ext cx="3319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4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accountability layer has to exist before the delegation does — and the evidence has to outlive the vendor that produced 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18120" y="4901184"/>
            <a:ext cx="3319272" cy="0"/>
          </a:xfrm>
          <a:prstGeom prst="line">
            <a:avLst/>
          </a:prstGeom>
          <a:noFill/>
          <a:ln w="12700">
            <a:solidFill>
              <a:srgbClr val="2C3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18120" y="5047488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D1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workflow. One owner.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327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591495" y="6327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 Identity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Identity — DenAI Summit 2026 Showcase</dc:title>
  <dc:subject>PptxGenJS Presentation</dc:subject>
  <dc:creator>AI Identity</dc:creator>
  <cp:lastModifiedBy>AI Identity</cp:lastModifiedBy>
  <cp:revision>1</cp:revision>
  <dcterms:created xsi:type="dcterms:W3CDTF">2026-09-05T22:48:16Z</dcterms:created>
  <dcterms:modified xsi:type="dcterms:W3CDTF">2026-09-05T22:48:16Z</dcterms:modified>
</cp:coreProperties>
</file>