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94560"/>
            <a:ext cx="164592" cy="22860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6800" b="1">
                <a:solidFill>
                  <a:srgbClr val="FFFFFF"/>
                </a:solidFill>
                <a:latin typeface="Calibri"/>
              </a:rPr>
              <a:t>AI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C9D4E6"/>
                </a:solidFill>
                <a:latin typeface="Calibri"/>
              </a:rPr>
              <a:t>Cryptographic identity, policy, and audit for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9DA9C1"/>
                </a:solidFill>
                <a:latin typeface="Calibri"/>
              </a:rPr>
              <a:t>Prepared for Kevin Pentecost  ·  Standard Motor Co  ·  April 28,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4E6"/>
                </a:solidFill>
                <a:latin typeface="Calibri"/>
              </a:rPr>
              <a:t>Jeff Leva  ·  Founder &amp; CEO  ·  jeff@ai-identity.co  ·  ai-identity.co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What AI Identity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The one-sentence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09728" cy="237744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698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B1933"/>
                </a:solidFill>
                <a:latin typeface="Calibri"/>
              </a:rPr>
              <a:t>“AI Identity is the cryptographic identity, policy, and audit layer for AI agents — built from scratch for autonomous systems, not retrofitted from human IAM.”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6B7280"/>
                </a:solidFill>
                <a:latin typeface="Calibri"/>
              </a:rPr>
              <a:t>What's inside this deck: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1.  The problem every security team is about to inherit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7608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2.  How teams cope today, and why those workarounds don't actually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2297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3.  How AI Identity solves it — gateway, three-key architecture, forensic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986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4.  Two illustrative scenarios: parts ordering, customer service refunds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1675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5.  Common questions, and where to verify the technical claims yourself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AI agents are in production now — reading databases, calling APIs, moving money. Most companies treat them like anonymous scripts.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5440680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60000" cy="2103120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B1933"/>
                </a:solidFill>
                <a:latin typeface="Calibri"/>
              </a:rPr>
              <a:t>No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5074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You can't tell which agent took which action. Every agent shares the same service-account key — the audit log records the key, not the persona behind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965960"/>
            <a:ext cx="5440680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965960"/>
            <a:ext cx="60000" cy="21031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1488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B1933"/>
                </a:solidFill>
                <a:latin typeface="Calibri"/>
              </a:rPr>
              <a:t>No Policy Enforcement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651760"/>
            <a:ext cx="5074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Agents get over-permissioned during the demo, and nothing gets removed. Permission drift becomes the steady state.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51960"/>
            <a:ext cx="5440680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60000" cy="2103120"/>
          </a:xfrm>
          <a:prstGeom prst="rect">
            <a:avLst/>
          </a:prstGeom>
          <a:solidFill>
            <a:srgbClr val="8E6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348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B1933"/>
                </a:solidFill>
                <a:latin typeface="Calibri"/>
              </a:rPr>
              <a:t>No Forensic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37760"/>
            <a:ext cx="5074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When something goes wrong, there's no tamper-proof log to show a regulator. Standard application logs are mutable — anyone with write access can edit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4251960"/>
            <a:ext cx="5440680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4251960"/>
            <a:ext cx="60000" cy="2103120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4348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B1933"/>
                </a:solidFill>
                <a:latin typeface="Calibri"/>
              </a:rPr>
              <a:t>Traditional IAM Doesn't 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937760"/>
            <a:ext cx="5074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Okta and Azure Entra are bolting agent features onto human-first architectures. They don't capture chain-of-thought, can't replay sessions, and treat agents as service accounts.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What teams do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Every workaround has the same shape: the thing being audited is also the thing asserting its identity.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>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8288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8288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>WHY IT FALLS SHORT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11091672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50000" cy="84124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40280"/>
            <a:ext cx="3108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Self-asserted metadata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40280"/>
            <a:ext cx="4160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Pass user_id / agent_name on every API call. Filter logs by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240280"/>
            <a:ext cx="34564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The agent declares its own name. A compromised agent can claim to be anyone.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26664"/>
            <a:ext cx="11091672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26664"/>
            <a:ext cx="50000" cy="84124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118104"/>
            <a:ext cx="3108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One API key per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118104"/>
            <a:ext cx="4160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Generate a separate Anthropic / OpenAI key for each agent. Keys act as identity.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118104"/>
            <a:ext cx="34564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Keys never expire, no central revocation, secret sprawl. Every rotation is a multi-system deploy.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04488"/>
            <a:ext cx="11091672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04488"/>
            <a:ext cx="50000" cy="84124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995928"/>
            <a:ext cx="3108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LLM observability proxies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995928"/>
            <a:ext cx="4160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LangSmith, Langfuse, Helicone, Arize, Datadog LLM Obs. Tag each request with userId / sessionId.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995928"/>
            <a:ext cx="34564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Same self-assertion — tags come from the calling code. Now you trust the proxy too.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82312"/>
            <a:ext cx="11091672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82312"/>
            <a:ext cx="50000" cy="84124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873752"/>
            <a:ext cx="3108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Workspaces / Projects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873752"/>
            <a:ext cx="4160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Anthropic Workspaces, OpenAI Projects. Coarse-grained per-team partitioning.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873752"/>
            <a:ext cx="34564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Useful for billing. Doesn't answer 'which agent inside the Workspace did this.'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660136"/>
            <a:ext cx="11091672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660136"/>
            <a:ext cx="50000" cy="84124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751576"/>
            <a:ext cx="3108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Internal gateway (homegrown)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751576"/>
            <a:ext cx="4160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Route every model call through an in-house proxy. Verify mTLS or internal JWT.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751576"/>
            <a:ext cx="34564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Verifies the workload, not the agent. Two agents in the same pod look identical. Quarter of platform work.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09F3E"/>
                </a:solidFill>
                <a:latin typeface="Calibri"/>
              </a:rPr>
              <a:t>THE FUNDAMENTAL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“The thing being audited is also the thing asserting its identity. No external verification.”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C9D4E6"/>
                </a:solidFill>
                <a:latin typeface="Calibri"/>
              </a:rPr>
              <a:t>It's the equivalent of letting every employee write whatever name they want on the office sign-in sheet, and then pulling the sheet to investigate a break-in. AI Identity flips this — identity is verified by an external party (the AI Identity gateway), bound to a hardware-rooted key the agent never holds.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F7D9C"/>
                </a:solidFill>
                <a:latin typeface="Calibri"/>
              </a:rPr>
              <a:t>AI Identity  •  Information deck  •  Standard Motor Co  • 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What AI Identity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Four pillars — every enterprise must answer four questions about its AI agents.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269748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2697480" cy="1097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0B1933"/>
                </a:solidFill>
                <a:latin typeface="Calibri"/>
              </a:rP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E54B4B"/>
                </a:solidFill>
                <a:latin typeface="Calibri"/>
              </a:rPr>
              <a:t>Who is this agent?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331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Per-agent aid_sk_ keys. Issued, rotated, revoked, expired. SHA-256 hashed at rest. Compromise one — kill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965960"/>
            <a:ext cx="269748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965960"/>
            <a:ext cx="2697480" cy="10972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1945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0B1933"/>
                </a:solidFill>
                <a:latin typeface="Calibri"/>
              </a:rPr>
              <a:t>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E09F3E"/>
                </a:solidFill>
                <a:latin typeface="Calibri"/>
              </a:rPr>
              <a:t>What is it allowed to do?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246120"/>
            <a:ext cx="2331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Deny-by-default gateway. Per-agent scopes, spend caps, allowed endpoints, allowed data. Enforced at runtime, not in a config 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965960"/>
            <a:ext cx="269748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965960"/>
            <a:ext cx="2697480" cy="109728"/>
          </a:xfrm>
          <a:prstGeom prst="rect">
            <a:avLst/>
          </a:prstGeom>
          <a:solidFill>
            <a:srgbClr val="8E6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1945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0B1933"/>
                </a:solidFill>
                <a:latin typeface="Calibri"/>
              </a:rPr>
              <a:t>Forensics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8E6FE6"/>
                </a:solidFill>
                <a:latin typeface="Calibri"/>
              </a:rPr>
              <a:t>What did it actually do, and why?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3246120"/>
            <a:ext cx="2331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HMAC-chained audit log. KMS-signed evidence packets. Step through any session — auth, policy checks, tool calls, blocks.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0264" y="1965960"/>
            <a:ext cx="269748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0264" y="1965960"/>
            <a:ext cx="2697480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21945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0B1933"/>
                </a:solidFill>
                <a:latin typeface="Calibri"/>
              </a:rPr>
              <a:t>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4F8FE5"/>
                </a:solidFill>
                <a:latin typeface="Calibri"/>
              </a:rPr>
              <a:t>Can you prove it to a regulator?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3246120"/>
            <a:ext cx="2331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SOC 2 Type II, EU AI Act, NIST AI RMF, GDPR profiles. One-click export. Continuous, not annual.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The gateway: &lt;50ms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Every agent request runs through a six-stage fail-closed pipeline. Decision target: under 50 milliseconds.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78308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783080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2316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Rate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1508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100/s per IP
60/s per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6118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Calibri"/>
              </a:rPr>
              <a:t>on fail → 429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36292" y="2971800"/>
            <a:ext cx="182880" cy="274320"/>
          </a:xfrm>
          <a:prstGeom prst="rightArrow">
            <a:avLst/>
          </a:prstGeom>
          <a:solidFill>
            <a:srgbClr val="E2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9172" y="2194560"/>
            <a:ext cx="178308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9172" y="2194560"/>
            <a:ext cx="1783080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3764" y="242316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Key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3764" y="2971800"/>
            <a:ext cx="1508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aid_sk_ verified
against KMS-hashed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3764" y="36118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Calibri"/>
              </a:rPr>
              <a:t>on fail → 401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306824" y="2971800"/>
            <a:ext cx="182880" cy="274320"/>
          </a:xfrm>
          <a:prstGeom prst="rightArrow">
            <a:avLst/>
          </a:prstGeom>
          <a:solidFill>
            <a:srgbClr val="E2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9704" y="2194560"/>
            <a:ext cx="178308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9704" y="2194560"/>
            <a:ext cx="1783080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4296" y="242316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Agent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2971800"/>
            <a:ext cx="1508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active / suspended /
revoked / expired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36118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Calibri"/>
              </a:rPr>
              <a:t>on fail → 403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277356" y="2971800"/>
            <a:ext cx="182880" cy="274320"/>
          </a:xfrm>
          <a:prstGeom prst="rightArrow">
            <a:avLst/>
          </a:prstGeom>
          <a:solidFill>
            <a:srgbClr val="E2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60236" y="2194560"/>
            <a:ext cx="178308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60236" y="2194560"/>
            <a:ext cx="1783080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4828" y="242316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Policy 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4828" y="2971800"/>
            <a:ext cx="1508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deny-by-default
context-aware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4828" y="36118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Calibri"/>
              </a:rPr>
              <a:t>on fail → 403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247888" y="2971800"/>
            <a:ext cx="182880" cy="274320"/>
          </a:xfrm>
          <a:prstGeom prst="rightArrow">
            <a:avLst/>
          </a:prstGeom>
          <a:solidFill>
            <a:srgbClr val="E2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30768" y="2194560"/>
            <a:ext cx="178308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30768" y="2194560"/>
            <a:ext cx="1783080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242316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Circuit Breaker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971800"/>
            <a:ext cx="1508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5 failures / 60s →
OPEN until probe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6118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Calibri"/>
              </a:rPr>
              <a:t>on fail → 503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218420" y="2971800"/>
            <a:ext cx="182880" cy="274320"/>
          </a:xfrm>
          <a:prstGeom prst="rightArrow">
            <a:avLst/>
          </a:prstGeom>
          <a:solidFill>
            <a:srgbClr val="E2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01300" y="2194560"/>
            <a:ext cx="178308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01300" y="2194560"/>
            <a:ext cx="1783080" cy="1097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65892" y="242316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Audit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5892" y="2971800"/>
            <a:ext cx="1508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HMAC-chained,
append-only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5892" y="36118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Calibri"/>
              </a:rPr>
              <a:t>on fail → 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9768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Why &lt;50ms matters operationally: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7091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•  Inline enforcement on the agent's hot path — your agents stay fast.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00176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•  Fail-closed: any exception or timeout = DENY. Security default, not a config switch.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29437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•  4 thread-pool workers, 500ms hard timeout, circuit breaker isolates a misbehaving downstream.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5869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•  Public deployment runs on GKE Autopilot in us-east1 — multi-region path on the H2 roadmap.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The dual-key story (actually three keys)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Forging an audit trail would require compromising two separately-held secrets. The hardest one is in an HSM that even we can't read.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60000" cy="1417320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Runtime key  ·  aid_sk_…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54B4B"/>
                </a:solidFill>
                <a:latin typeface="Calibri"/>
              </a:rPr>
              <a:t>Per-agent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084832"/>
            <a:ext cx="6492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Held by the agent. Used to authenticate requests at the gateway. Rotatable. Revocable. SHA-256 hashed at rest. Shown once at creation, never again.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971800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6B7280"/>
                </a:solidFill>
                <a:latin typeface="Calibri"/>
              </a:rPr>
              <a:t>Compromise blast radius: ONE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11091672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410712"/>
            <a:ext cx="60000" cy="14173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7530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HMAC chain key  ·  audit_hmac_key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>Per-org, in app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575304"/>
            <a:ext cx="6492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Signs every audit log row. Each row is HMAC-linked to the previous one — tamper with any record and the chain breaks. Lives in the AI Identity application database.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462272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6B7280"/>
                </a:solidFill>
                <a:latin typeface="Calibri"/>
              </a:rPr>
              <a:t>Compromise blast radius: chain integrity for that org.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01184"/>
            <a:ext cx="11091672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01184"/>
            <a:ext cx="60000" cy="1417320"/>
          </a:xfrm>
          <a:prstGeom prst="rect">
            <a:avLst/>
          </a:prstGeom>
          <a:solidFill>
            <a:srgbClr val="8E6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65776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Forensic signing key  ·  EC_SIGN_P256_SHA256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6811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8E6FE6"/>
                </a:solidFill>
                <a:latin typeface="Calibri"/>
              </a:rPr>
              <a:t>Per-org, in GCP KMS HSM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065776"/>
            <a:ext cx="6492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Signs every evidence packet at session close. The private half lives in Google's FIPS 140-2 Level 3 hardware. AI Identity itself has never seen it. Public key published via JWKS for offline verification.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952744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6B7280"/>
                </a:solidFill>
                <a:latin typeface="Calibri"/>
              </a:rPr>
              <a:t>Compromise blast radius: requires breaking an HSM.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B1933"/>
                </a:solidFill>
                <a:latin typeface="Calibri"/>
              </a:rPr>
              <a:t>To forge a session, an attacker needs BOTH the HMAC key AND the KMS private key. The KMS private key never leaves the HSM.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What a signed attestation proves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What you can hand a SOC 2 auditor or a regulator — and what you still need other evidence for.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544068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5440680" cy="1097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36A16B"/>
                </a:solidFill>
                <a:latin typeface="Calibri"/>
              </a:rPr>
              <a:t>PROVES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✓  The envelope was produced by the key identified in signer_key_id.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✓  At signed_at, AI Identity had those specific audit rows in the state they appear 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✓  The rows form a contiguous HMAC chain — no insertions, deletions, or modifications since.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✓  Re-ordering or swapping rows is detectable via the chain's tail hash.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✓  The committed range is self-consistent: row count and IDs match.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965960"/>
            <a:ext cx="544068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65960"/>
            <a:ext cx="5440680" cy="1097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2194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E54B4B"/>
                </a:solidFill>
                <a:latin typeface="Calibri"/>
              </a:rPr>
              <a:t>DOES NOT 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9748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×  Whether the agent's *intent* was good — attestation binds rows, rows record gateway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29184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×  Whether a denial was *correct by policy* — attestation says what the gateway decided, not whether the policy was right.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88620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×  Sub-second timing within the session — only signed_at is the signer's timestamp.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48056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×  Events outside the committed range — needs a separate attestation.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507492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×  That AI Identity itself wasn't compromised — that's why the HMAC chain uses a *different* key (see prior slide).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6B7280"/>
                </a:solidFill>
                <a:latin typeface="Calibri"/>
              </a:rPr>
              <a:t>Trust model documented in full at ai-identity.co/docs/forensics/trust-model — designed to be auditor-defensible.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Scenario 1: parts ordering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The kind of system Standard Motor's parts/procurement team is one product cycle away from running in production.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Calibri"/>
              </a:rPr>
              <a:t>THE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91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An AI agent monitors inventory, reorders parts when stock falls below threshold, splits orders across approved suppliers, and updates the ERP. Humans are looped in on orders &gt; $X. The agent has access to supplier APIs, the ERP, and the company AmEx.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54B4B"/>
                </a:solidFill>
                <a:latin typeface="Calibri"/>
              </a:rPr>
              <a:t>RISKS without 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044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50000" cy="5669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5935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Prompt injection in a supplier email reorders 10× normal qty before anyone notices.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6052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50000" cy="5669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233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Compromised key wires payment to a fraudulent supplier added by the attacker.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0060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50000" cy="56692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8737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Over-permissioned agent silently raises its own credit limit during a 'just one more thing' iteration.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4068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440680"/>
            <a:ext cx="50000" cy="56692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551383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Auditor asks 'why did this $250K order go through' — no clean evidence trail to answer.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15468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36A16B"/>
                </a:solidFill>
                <a:latin typeface="Calibri"/>
              </a:rPr>
              <a:t>HOW AI IDENTITY HELPS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52044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52044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35935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Per-agent spend cap. The policy denies any order &gt; $X without human-in-the-loop.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416052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416052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4233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Supplier allowlist enforced at the gateway. New supplier ≠ in allowlist = 403, audited.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480060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480060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48737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Per-agent scopes. Credit-limit endpoints are explicitly denied; 'just one more thing' becomes a deploy event, not a runtime change.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544068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544068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551383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KMS-signed evidence packet for every session. Replay the agent's reasoning chain for the auditor in 30 seconds.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Scenario 2: customer service refund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A direct-to-customer use case Standard Motor's CX team will face the moment they pilot a tier-1 deflection bot.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Calibri"/>
              </a:rPr>
              <a:t>THE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91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An AI agent reviews customer accounts, looks up order history, can issue refunds up to $X without escalation. Reads from your CRM, has scoped write access to your billing system, and can email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54B4B"/>
                </a:solidFill>
                <a:latin typeface="Calibri"/>
              </a:rPr>
              <a:t>RISKS without 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044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50000" cy="5669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5935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Prompt injection in a customer message convinces the agent to issue a $1,200 refund on a $50 order.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6052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50000" cy="5669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233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Agent's session leaks PII — full payment cards, addresses — into the model provider's logs.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0060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50000" cy="56692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8737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Months later, a class action alleges biased refund decisions. Your defense is application logs.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4068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440680"/>
            <a:ext cx="50000" cy="56692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551383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Stolen agent credential issues hundreds of small refunds to attacker-controlled accounts overnight.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15468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36A16B"/>
                </a:solidFill>
                <a:latin typeface="Calibri"/>
              </a:rPr>
              <a:t>HOW AI IDENTITY HELPS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52044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52044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35935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Per-agent refund cap enforced at the gateway. Anything above $X is denied or routed to a human.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416052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416052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4233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PII-scoped policies. Card numbers are tokenized before they reach the model provider; outbound calls deny by default.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480060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480060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48737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Cryptographically chained reasoning log. Replay every refund decision; export the SOC 2 evidence package.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544068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544068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551383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Anomaly detection: spike of refund requests from a single agent triggers automatic suspension within seconds.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What this looks like operationally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How your security team would actually use AI Identity day-to-day.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1091672" cy="10058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554480" cy="100584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E09F3E"/>
                </a:solidFill>
                <a:latin typeface="Calibri"/>
              </a:rP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0848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Engineer registers a new agent.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46888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Single API call → returns aid_sk_ once. Permissions default to deny. Engineer writes a policy: 'this agent can call /reorder, max $5K/day, supplier in {approved-list}.' Reviewed and approved by your security team in the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44952"/>
            <a:ext cx="11091672" cy="10058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44952"/>
            <a:ext cx="1554480" cy="100584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2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E09F3E"/>
                </a:solidFill>
                <a:latin typeface="Calibri"/>
              </a:rPr>
              <a:t>Day 1, 30 mins 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163824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First request hits the gateway.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547872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Sub-50ms decision: rate limit OK, key valid, agent active, policy match, no circuit breakers tripped. Allowed. Logged. Customer sees a normal API response.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23944"/>
            <a:ext cx="11091672" cy="10058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23944"/>
            <a:ext cx="1554480" cy="100584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43984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E09F3E"/>
                </a:solidFill>
                <a:latin typeface="Calibri"/>
              </a:rPr>
              <a:t>Day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242816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An anomaly fires.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626864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Agent suddenly tries 50 reorders in 60 seconds. Anomaly detection flags it; auto-revoke kicks in; on-call gets paged with the agent ID and the last 100 audit rows pre-filtered.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02936"/>
            <a:ext cx="11091672" cy="10058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02936"/>
            <a:ext cx="1554480" cy="100584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22976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E09F3E"/>
                </a:solidFill>
                <a:latin typeface="Calibri"/>
              </a:rPr>
              <a:t>Quarterly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321808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SOC 2 audit shows 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705856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Click 'Export → SOC 2 Type II.' You hand the auditor an attestation envelope, the audit log range it commits to, and the JWKS public key. They verify offline with the open-source CLI. No back-and-forth.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How we differ from Okta, Entra, CyberArk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They're retrofitting agent features onto human-first architectures. We were built from scratch for autonomous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1091672" cy="36576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38527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938527"/>
            <a:ext cx="4123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>Human IAM (Okta / Entra / CyberArk)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0648" y="1938527"/>
            <a:ext cx="4123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>AI Identity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11091672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50007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B1933"/>
                </a:solidFill>
                <a:latin typeface="Calibri"/>
              </a:rPr>
              <a:t>Identity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50007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User accounts, service accounts, OAuth tokens — built for sessions a human starts.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2350007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A1F36"/>
                </a:solidFill>
                <a:latin typeface="Calibri"/>
              </a:rPr>
              <a:t>Per-agent runtime keys, attached to a verified persona, rotated/revoked by API.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54095"/>
            <a:ext cx="11091672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163823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B1933"/>
                </a:solidFill>
                <a:latin typeface="Calibri"/>
              </a:rPr>
              <a:t>Policy granularity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163823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Role-based: this group can access this app.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3163823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A1F36"/>
                </a:solidFill>
                <a:latin typeface="Calibri"/>
              </a:rPr>
              <a:t>Per-decision: this agent, this endpoint, this argument, this spend cap, evaluated at runtime.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67911"/>
            <a:ext cx="11091672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977639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B1933"/>
                </a:solidFill>
                <a:latin typeface="Calibri"/>
              </a:rPr>
              <a:t>Audit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977639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Mutable application logs. Tamper-evident only if you bolt on a SIEM with WORM storage.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3977639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A1F36"/>
                </a:solidFill>
                <a:latin typeface="Calibri"/>
              </a:rPr>
              <a:t>HMAC-chained at write time. Tamper detection is a property of the log, not of an external system.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81727"/>
            <a:ext cx="11091672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791455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B1933"/>
                </a:solidFill>
                <a:latin typeface="Calibri"/>
              </a:rPr>
              <a:t>Forensic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791455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You write a query. The auditor takes your word for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4791455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A1F36"/>
                </a:solidFill>
                <a:latin typeface="Calibri"/>
              </a:rPr>
              <a:t>DSSE-signed evidence packet + JWKS. The auditor verifies offline against an HSM-backed key.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95543"/>
            <a:ext cx="11091672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605271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B1933"/>
                </a:solidFill>
                <a:latin typeface="Calibri"/>
              </a:rPr>
              <a:t>Designed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5605271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Humans (millions of them) authenticating to apps.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5605271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A1F36"/>
                </a:solidFill>
                <a:latin typeface="Calibri"/>
              </a:rPr>
              <a:t>Agents (millions of them) running with delegated authority and chain-of-thought reasoning.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Common questions from security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Five things we hear most often during evaluation.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1091672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0000" cy="868680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5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“Why not just rotate keys per agent in our existing IAM?”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5999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You can. But Okta and Entra are session-oriented; an agent isn't a session — it's a long-lived process making thousands of decisions. Building the policy engine and the forensic chain on top of human IAM is a full quarter of platform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19"/>
            <a:ext cx="11091672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19"/>
            <a:ext cx="60000" cy="868680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8035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“What's the latency on the hot path?”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399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Gateway target is &lt;50ms p99 per enforcement decision. Verification of attestations happens offline — runtime systems never block on AI Identity. Designed to scale to millions of agent calls per second.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03319"/>
            <a:ext cx="11091672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03319"/>
            <a:ext cx="60000" cy="868680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9475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“How does this work with our SIEM?”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14799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Audit export API. Push to Splunk, Sentinel, Datadog, or a custom sink. The signed log remains the source of truth; the SIEM is the analytics and alerting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17719"/>
            <a:ext cx="11091672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17719"/>
            <a:ext cx="60000" cy="868680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0915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“What if AI Identity itself gets compromised?”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199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The HMAC chain key and the KMS signing key are held in separate systems — application database and FIPS 140-2 Level 3 HSM. Forging history requires both. The KMS private key has never been seen by an AI Identity process; auditors can verify against Google Cloud KMS directly.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532119"/>
            <a:ext cx="11091672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532119"/>
            <a:ext cx="60000" cy="868680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2355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“What does this cost?”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43599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Free $0, Pro $79, Business $299, Business+ $599 — rate-card published at ai-identity.co/pricing. Enterprise is $1,500/mo multi-tenant or $3,000/mo dedicated VPC. Standard Motor specifically: see the founding customer offer on the next page.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Standard Motor founding customer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A specific, time-bounded path forward — should it be useful.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1091672" cy="128016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64592" cy="128016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>FOUNDING ENTERPRISE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90 days of the Enterprise tier — free, no commitment.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C9D4E6"/>
                </a:solidFill>
                <a:latin typeface="Calibri"/>
              </a:rPr>
              <a:t>If it's not a fit at day 90, walk away. No termination clause, no kickback.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37560"/>
            <a:ext cx="3602736" cy="27889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337560"/>
            <a:ext cx="3602736" cy="109728"/>
          </a:xfrm>
          <a:prstGeom prst="rect">
            <a:avLst/>
          </a:prstGeom>
          <a:solidFill>
            <a:srgbClr val="8E6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38728"/>
            <a:ext cx="33284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Enterprise tier — 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77640"/>
            <a:ext cx="3236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Unlimited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06240"/>
            <a:ext cx="3236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Unlimited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34840"/>
            <a:ext cx="3236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Unlimited audit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663440"/>
            <a:ext cx="3236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Full SSO + SAML / SCIM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892040"/>
            <a:ext cx="3236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Compliance evidence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120640"/>
            <a:ext cx="3236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Team roles + agent assignments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349240"/>
            <a:ext cx="3236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Human-in-the-loop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77840"/>
            <a:ext cx="3236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On-premise / VPC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806440"/>
            <a:ext cx="3236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Dedicated support + SLA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337560"/>
            <a:ext cx="3602736" cy="27889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337560"/>
            <a:ext cx="3602736" cy="1097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538728"/>
            <a:ext cx="33284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What founding-customer status gets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977640"/>
            <a:ext cx="3236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Direct founder line — Slack or email, same-day responsiveness.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315968"/>
            <a:ext cx="3236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Real influence on the product roadmap during your evaluation.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654296"/>
            <a:ext cx="3236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First three policies authored with you, not by you.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992624"/>
            <a:ext cx="3236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Quarterly compliance evidence export through your auditor of choice.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5330952"/>
            <a:ext cx="3236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Optional named launch case study — full sign-off on every quote.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5669280"/>
            <a:ext cx="3236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·  Pricing locked at evaluation rates if you continue past day 90.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3337560"/>
            <a:ext cx="3602736" cy="27889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337560"/>
            <a:ext cx="3602736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538728"/>
            <a:ext cx="33284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What happens at day 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3977640"/>
            <a:ext cx="3236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4F8FE5"/>
                </a:solidFill>
                <a:latin typeface="Calibri"/>
              </a:rPr>
              <a:t>Continue on Enterprise — $1,500/mo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251960"/>
            <a:ext cx="32369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Multi-tenant Enterprise, locked at this rate for 24 months. ~$18K/yr — well below typical discretionary thresholds.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4754880"/>
            <a:ext cx="3236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4F8FE5"/>
                </a:solidFill>
                <a:latin typeface="Calibri"/>
              </a:rPr>
              <a:t>Dedicated VPC — $3,000/mo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5029200"/>
            <a:ext cx="32369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Same Enterprise feature set on its own infrastructure if compliance posture requires it. Locked for 24 months.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5532120"/>
            <a:ext cx="3236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4F8FE5"/>
                </a:solidFill>
                <a:latin typeface="Calibri"/>
              </a:rPr>
              <a:t>Step down — $79 / $299 / $599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5806440"/>
            <a:ext cx="32369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Pro, Business, or Business+ tier if real usage doesn't justify Enterprise. Or walk away — no termination clause.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6B7280"/>
                </a:solidFill>
                <a:latin typeface="Calibri"/>
              </a:rPr>
              <a:t>Honest framing: this is the offer because Standard Motor is exactly the kind of regulated, agent-curious enterprise we built this for.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Information deck  •  Standard Motor Co  • 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E09F3E"/>
                </a:solidFill>
                <a:latin typeface="Calibri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Verify everything in this deck independently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10332720" cy="594360"/>
          </a:xfrm>
          <a:prstGeom prst="rect">
            <a:avLst/>
          </a:prstGeom>
          <a:solidFill>
            <a:srgbClr val="14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60000" cy="59436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75104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Public JWKS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23113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C9D4E6"/>
                </a:solidFill>
                <a:latin typeface="Calibri"/>
              </a:rPr>
              <a:t>ai-identity.co/.well-known/ai-identity-public-keys.json — every non-destroyed forensic signing key version, fetchable without an account.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78608"/>
            <a:ext cx="10332720" cy="594360"/>
          </a:xfrm>
          <a:prstGeom prst="rect">
            <a:avLst/>
          </a:prstGeom>
          <a:solidFill>
            <a:srgbClr val="14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578608"/>
            <a:ext cx="60000" cy="59436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63347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Open-source verification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8895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C9D4E6"/>
                </a:solidFill>
                <a:latin typeface="Calibri"/>
              </a:rPr>
              <a:t>github.com/Levaj2000/AI-Identity — clone and run cli/ai_identity_verify.py against any attestation envelope. Reproduces the trust chain offline.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36976"/>
            <a:ext cx="10332720" cy="594360"/>
          </a:xfrm>
          <a:prstGeom prst="rect">
            <a:avLst/>
          </a:prstGeom>
          <a:solidFill>
            <a:srgbClr val="14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236976"/>
            <a:ext cx="60000" cy="59436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2918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Trust model (auditor reference)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547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C9D4E6"/>
                </a:solidFill>
                <a:latin typeface="Calibri"/>
              </a:rPr>
              <a:t>ai-identity.co/docs/forensics/trust-model — exhaustively documents what an attestation does and does not prove.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95344"/>
            <a:ext cx="10332720" cy="594360"/>
          </a:xfrm>
          <a:prstGeom prst="rect">
            <a:avLst/>
          </a:prstGeom>
          <a:solidFill>
            <a:srgbClr val="14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895344"/>
            <a:ext cx="60000" cy="59436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95020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Architecture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20624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C9D4E6"/>
                </a:solidFill>
                <a:latin typeface="Calibri"/>
              </a:rPr>
              <a:t>ai-identity.co/docs/architecture — gateway pipeline, latency budgets, deployment topology.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53712"/>
            <a:ext cx="10332720" cy="594360"/>
          </a:xfrm>
          <a:prstGeom prst="rect">
            <a:avLst/>
          </a:prstGeom>
          <a:solidFill>
            <a:srgbClr val="14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553712"/>
            <a:ext cx="60000" cy="59436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608576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Compliance export profiles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86460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C9D4E6"/>
                </a:solidFill>
                <a:latin typeface="Calibri"/>
              </a:rPr>
              <a:t>SOC 2 Type II  ·  EU AI Act  ·  NIST AI RMF  ·  GDPR — schema and audit-evidence format published in advance.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532120"/>
            <a:ext cx="10332720" cy="127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>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Jeff Leva  ·  Founder &amp; CEO  ·  jeff@ai-identity.co  ·  ai-identity.co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65392"/>
            <a:ext cx="11091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F7D9C"/>
                </a:solidFill>
                <a:latin typeface="Calibri"/>
              </a:rPr>
              <a:t>AI Identity  •  Information deck  •  Standard Motor Co  • 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