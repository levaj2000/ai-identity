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Identity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Playbook &amp; Go-to-Market Strategy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the Agent Economy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3474720"/>
            <a:ext cx="36576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611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 |  Policy  |  Compliance  |  Forensics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6162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617720"/>
            <a:ext cx="82296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|  Confidential  |  For Investor &amp; Partner Review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Identity Crisis Creates a Multi-Billion Dollar Market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914400"/>
            <a:ext cx="109728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1463040" cy="2377440"/>
          </a:xfrm>
          <a:prstGeom prst="rect">
            <a:avLst/>
          </a:prstGeom>
          <a:solidFill>
            <a:srgbClr val="25254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1463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Fortune 500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agents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94560" y="1280160"/>
            <a:ext cx="1463040" cy="2377440"/>
          </a:xfrm>
          <a:prstGeom prst="rect">
            <a:avLst/>
          </a:prstGeom>
          <a:solidFill>
            <a:srgbClr val="252547"/>
          </a:solidFill>
          <a:ln/>
        </p:spPr>
      </p:sp>
      <p:sp>
        <p:nvSpPr>
          <p:cNvPr id="9" name="Shape 7"/>
          <p:cNvSpPr/>
          <p:nvPr/>
        </p:nvSpPr>
        <p:spPr>
          <a:xfrm>
            <a:off x="2194560" y="1280160"/>
            <a:ext cx="1463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14173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86000" y="205740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apps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include agents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end of 2026 (Gartner)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0" y="1280160"/>
            <a:ext cx="1463040" cy="2377440"/>
          </a:xfrm>
          <a:prstGeom prst="rect">
            <a:avLst/>
          </a:prstGeom>
          <a:solidFill>
            <a:srgbClr val="252547"/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0" y="1280160"/>
            <a:ext cx="1463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14173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931920" y="205740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full security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for their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fleet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0" y="1280160"/>
            <a:ext cx="1463040" cy="2377440"/>
          </a:xfrm>
          <a:prstGeom prst="rect">
            <a:avLst/>
          </a:prstGeom>
          <a:solidFill>
            <a:srgbClr val="252547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0" y="1280160"/>
            <a:ext cx="1463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14173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$12B→$39B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577840" y="205740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 management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growth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2026–2036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0" y="1280160"/>
            <a:ext cx="1463040" cy="2377440"/>
          </a:xfrm>
          <a:prstGeom prst="rect">
            <a:avLst/>
          </a:prstGeom>
          <a:solidFill>
            <a:srgbClr val="252547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0" y="1280160"/>
            <a:ext cx="1463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0" y="14173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23760" y="205740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high-risk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take full effect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" y="3977640"/>
            <a:ext cx="7772400" cy="411480"/>
          </a:xfrm>
          <a:prstGeom prst="rect">
            <a:avLst/>
          </a:prstGeom>
          <a:solidFill>
            <a:srgbClr val="16162A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977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is exploding. Governance is dangerously behind.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6162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617720"/>
            <a:ext cx="82296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• Policy • Compliance • Forensics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Security for Autonomous Agents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914400"/>
            <a:ext cx="109728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5860" y="11887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116586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7150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2940" y="23774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per-agent registration &amp; scoped credentials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23260" y="11887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322326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2890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20340" y="23774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gateway agents cannot bypass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80660" y="11887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28066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8630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77740" y="23774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audit logs + SOC 2 / ISO 42001 readiness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38060" y="11887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33806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4370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35140" y="23774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replay, anomaly detection, root-cause export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don’t compete with Okta or AWS IAM — we solve the agent-specific problem they don’t address.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6162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617720"/>
            <a:ext cx="82296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• Policy • Compliance • Forensics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High-Intent Target Market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914400"/>
            <a:ext cx="109728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3886200" cy="2651760"/>
          </a:xfrm>
          <a:prstGeom prst="rect">
            <a:avLst/>
          </a:prstGeom>
          <a:solidFill>
            <a:srgbClr val="25254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" cy="2651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3337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→ Series B companies running 3+ production agents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Fintech, Healthcare, DevOps SaaS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Shared API keys, compliance blockers, security reviews halting rollouts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143000"/>
            <a:ext cx="3886200" cy="2651760"/>
          </a:xfrm>
          <a:prstGeom prst="rect">
            <a:avLst/>
          </a:prstGeom>
          <a:solidFill>
            <a:srgbClr val="252547"/>
          </a:solidFill>
          <a:ln/>
        </p:spPr>
      </p:sp>
      <p:sp>
        <p:nvSpPr>
          <p:cNvPr id="9" name="Shape 7"/>
          <p:cNvSpPr/>
          <p:nvPr/>
        </p:nvSpPr>
        <p:spPr>
          <a:xfrm>
            <a:off x="4800600" y="1143000"/>
            <a:ext cx="54864" cy="2651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234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Mix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66360" y="1645920"/>
            <a:ext cx="3337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— bottom-up entry (Free/Pro)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Security/Compliance — key approvers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CTO/CISO — budget owners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023360"/>
            <a:ext cx="7772400" cy="365760"/>
          </a:xfrm>
          <a:prstGeom prst="rect">
            <a:avLst/>
          </a:prstGeom>
          <a:solidFill>
            <a:srgbClr val="16162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023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focus = faster sales cycles and higher win rates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6162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617720"/>
            <a:ext cx="82296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• Policy • Compliance • Forensics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Scalable SaaS Pricing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914400"/>
            <a:ext cx="109728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0"/>
            <a:ext cx="1874520" cy="2560320"/>
          </a:xfrm>
          <a:prstGeom prst="rect">
            <a:avLst/>
          </a:prstGeom>
          <a:solidFill>
            <a:srgbClr val="25254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132588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2608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adoption engine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874520" cy="2560320"/>
          </a:xfrm>
          <a:prstGeom prst="rect">
            <a:avLst/>
          </a:prstGeom>
          <a:solidFill>
            <a:srgbClr val="2A2A5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1051560"/>
            <a:ext cx="141732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0515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06040" y="13258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06040" y="16459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$79/mo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43200" y="21488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agents, full forensics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80360" y="2834640"/>
            <a:ext cx="132588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292608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teams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188720"/>
            <a:ext cx="1874520" cy="2560320"/>
          </a:xfrm>
          <a:prstGeom prst="rect">
            <a:avLst/>
          </a:prstGeom>
          <a:solidFill>
            <a:srgbClr val="252547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13258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63440" y="16459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$299/mo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00600" y="21488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agents, SAML, custom policies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2834640"/>
            <a:ext cx="132588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92608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scale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20840" y="1188720"/>
            <a:ext cx="1874520" cy="2560320"/>
          </a:xfrm>
          <a:prstGeom prst="rect">
            <a:avLst/>
          </a:prstGeom>
          <a:solidFill>
            <a:srgbClr val="252547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13258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720840" y="16459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58000" y="21488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Unlimited, SSO, on-prem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95160" y="2834640"/>
            <a:ext cx="132588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292608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support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" y="4023360"/>
            <a:ext cx="7772400" cy="365760"/>
          </a:xfrm>
          <a:prstGeom prst="rect">
            <a:avLst/>
          </a:prstGeom>
          <a:solidFill>
            <a:srgbClr val="16162A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023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Land-and-Expand: Free → Pro → Business → Enterprise as agent count grows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6162A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617720"/>
            <a:ext cx="82296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• Policy • Compliance • Forensics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4–12 Week Sales Motion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914400"/>
            <a:ext cx="109728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" y="1897380"/>
            <a:ext cx="7543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700" y="16459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02870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+ content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integrations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74620" y="16459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267462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94560" y="23317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Demo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40280" y="30175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Pain-focused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20540" y="16459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2054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40480" y="23317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/ POC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86200" y="30175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proof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value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66460" y="16459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96646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0" y="23317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Review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30175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exports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SOC 2 readiness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12380" y="16459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761238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32320" y="23317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→ Expand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78040" y="30175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small,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with agents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 with developers, expand through security teams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6162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617720"/>
            <a:ext cx="82296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• Policy • Compliance • Forensics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High-Impact Discovery &amp; Demo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914400"/>
            <a:ext cx="109728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886200" cy="2286000"/>
          </a:xfrm>
          <a:prstGeom prst="rect">
            <a:avLst/>
          </a:prstGeom>
          <a:solidFill>
            <a:srgbClr val="25254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228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Focus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3337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auth risks (shared keys?)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pressure points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count &amp; framework stack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3886200" cy="2286000"/>
          </a:xfrm>
          <a:prstGeom prst="rect">
            <a:avLst/>
          </a:prstGeom>
          <a:solidFill>
            <a:srgbClr val="252547"/>
          </a:solidFill>
          <a:ln/>
        </p:spPr>
      </p:sp>
      <p:sp>
        <p:nvSpPr>
          <p:cNvPr id="9" name="Shape 7"/>
          <p:cNvSpPr/>
          <p:nvPr/>
        </p:nvSpPr>
        <p:spPr>
          <a:xfrm>
            <a:off x="4800600" y="1097280"/>
            <a:ext cx="54864" cy="228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66360" y="1600200"/>
            <a:ext cx="3337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their pain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registration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policy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 replay (the wow)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to their scale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502920"/>
          </a:xfrm>
          <a:prstGeom prst="rect">
            <a:avLst/>
          </a:prstGeom>
          <a:solidFill>
            <a:srgbClr val="16162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65760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657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differentiator: Tamper-evident audit chain that traditional IAM cannot match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6162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617720"/>
            <a:ext cx="82296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• Policy • Compliance • Forensics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Overcoming Objections &amp; Building Moat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822960"/>
            <a:ext cx="109728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"We use Okta/Auth0"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secure humans; we secure autonomous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"Too expensive"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one breach exceeds annual subscription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"Too early"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 removes all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"Long security review"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Ready-made audit exports speed approval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Moat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45643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3383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Agent-native architecture (not retrofitted IAM)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345643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4983480" y="3383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framework integrations (LangChain, CrewAI, AutoGen)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95935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3886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alignment from day one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663440" y="395935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4983480" y="3886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developer trust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6162A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4617720"/>
            <a:ext cx="82296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• Policy • Compliance • Forensics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Early Traction &amp; Scale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914400"/>
            <a:ext cx="109728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3886200" cy="2651760"/>
          </a:xfrm>
          <a:prstGeom prst="rect">
            <a:avLst/>
          </a:prstGeom>
          <a:solidFill>
            <a:srgbClr val="25254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" cy="2651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Goals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3337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design partners in 60 days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X/LinkedIn content engine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integrations live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lightweight case studies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143000"/>
            <a:ext cx="3886200" cy="2651760"/>
          </a:xfrm>
          <a:prstGeom prst="rect">
            <a:avLst/>
          </a:prstGeom>
          <a:solidFill>
            <a:srgbClr val="252547"/>
          </a:solidFill>
          <a:ln/>
        </p:spPr>
      </p:sp>
      <p:sp>
        <p:nvSpPr>
          <p:cNvPr id="9" name="Shape 7"/>
          <p:cNvSpPr/>
          <p:nvPr/>
        </p:nvSpPr>
        <p:spPr>
          <a:xfrm>
            <a:off x="4800600" y="1143000"/>
            <a:ext cx="54864" cy="2651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234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66360" y="1645920"/>
            <a:ext cx="3337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→ Pro conversion rate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growth per customer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revenue (upsell rate)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value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023360"/>
            <a:ext cx="7772400" cy="365760"/>
          </a:xfrm>
          <a:prstGeom prst="rect">
            <a:avLst/>
          </a:prstGeom>
          <a:solidFill>
            <a:srgbClr val="16162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023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LTV from land-and-expand in a market desperate for this layer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6162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617720"/>
            <a:ext cx="82296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• Policy • Compliance • Forensics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Build the Security Foundation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Agent Economy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1737360"/>
            <a:ext cx="2743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201168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965960" y="1965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Massive, timely market with strong regulatory tailwinds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45920" y="246888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965960" y="2423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Defensible, high-margin SaaS with clear expansion path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45920" y="292608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965960" y="2880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execution with focused GTM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3383280"/>
            <a:ext cx="640080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3832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 Design partner calls  •  Technical deep dive  •  Investment discussion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jeff@ai-identity.co  |  ai-identity.co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6162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617720"/>
            <a:ext cx="82296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• Policy • Compliance • Forensics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Identity - Sales Playbook &amp; Go-to-Market Strategy (Investor)</dc:title>
  <dc:subject>PptxGenJS Presentation</dc:subject>
  <dc:creator>AI Identity</dc:creator>
  <cp:lastModifiedBy>AI Identity</cp:lastModifiedBy>
  <cp:revision>1</cp:revision>
  <dcterms:created xsi:type="dcterms:W3CDTF">2026-03-26T22:44:03Z</dcterms:created>
  <dcterms:modified xsi:type="dcterms:W3CDTF">2026-03-26T22:44:03Z</dcterms:modified>
</cp:coreProperties>
</file>